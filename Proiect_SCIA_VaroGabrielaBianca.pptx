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84" r:id="rId3"/>
    <p:sldId id="285" r:id="rId4"/>
    <p:sldId id="258" r:id="rId5"/>
    <p:sldId id="259" r:id="rId6"/>
    <p:sldId id="274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79" r:id="rId15"/>
    <p:sldId id="275" r:id="rId16"/>
    <p:sldId id="276" r:id="rId17"/>
    <p:sldId id="277" r:id="rId18"/>
    <p:sldId id="278" r:id="rId19"/>
    <p:sldId id="268" r:id="rId20"/>
    <p:sldId id="281" r:id="rId21"/>
    <p:sldId id="280" r:id="rId22"/>
    <p:sldId id="282" r:id="rId23"/>
    <p:sldId id="269" r:id="rId24"/>
    <p:sldId id="272" r:id="rId25"/>
    <p:sldId id="273" r:id="rId26"/>
    <p:sldId id="283" r:id="rId27"/>
    <p:sldId id="286" r:id="rId28"/>
    <p:sldId id="25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BF6D7-557F-4151-8C3F-9BE5E58DCBC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34AFA-C103-4108-9857-E8B828D0D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9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00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64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71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2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34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80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34AFA-C103-4108-9857-E8B828D0D8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05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D6CF-FBA3-47ED-9B6F-23126D1EF96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64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34AFA-C103-4108-9857-E8B828D0D89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10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34AFA-C103-4108-9857-E8B828D0D89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31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34AFA-C103-4108-9857-E8B828D0D89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07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586D-E72B-4456-39F4-C5F533BC8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C8ADF-F22C-D1A0-1714-A747DC61B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A92E6-85BE-101C-55F3-80C42135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10F4-6376-4334-65F2-60A10EC1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8CA1-D74C-183D-E43A-B2334120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69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E9D8-DA68-9B79-107B-8F36E265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2D2C-13D7-B79F-F7BC-A15C3057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3BA7-F18F-0EA0-CD2C-322E7F52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E8171-FC03-2517-EAF7-2ADAB961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4E20-6B44-C7A2-00B9-C6B817CE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1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62B4-3C01-1224-3C16-66C41F20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D5BE4-6039-1071-2E06-41D71520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0576A-1812-F82F-9655-034C0A4F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5371C-FF64-5252-5DC2-00756AD0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3346A-D4B8-59D9-2B17-DC8CEFFF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9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5413-35B2-34D7-46B6-0C9C21F6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1B032-CC2D-6203-80CC-7606CD7D2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69816-D53D-349B-DCA3-F837CA5CE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E1286-3002-5C8A-BA02-7F0B4C70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7B43F-8410-38EB-DCFC-A776BE41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0568A-10AA-6408-7D56-EF852149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208A-AB45-F33A-EFFA-7D8C7EB9D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AE82-50E2-744F-D8DD-DB086EE92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E74F8-5C26-CAE3-B300-6D70C868F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65ED8-C5CC-5C08-0B5C-8CAB593D1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7920D-A24F-42A0-E465-B6B28C6BF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99853-4267-2606-4F10-FF516B5C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10635-8ECF-F881-84E0-4B93E459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147AF-7EB6-8709-7B63-9950C84B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4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9A9E-3B48-4CC0-7E54-27C99671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E1BAC-9388-E28A-9982-6C65DEE0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9FC44-CCB3-25F4-9959-E4BB6F39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A27B5-C965-EF52-1A93-84D991C1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7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2BB6B-3C3E-F1F9-6AC3-05ACF13F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012B2-AD94-294F-5F9B-35F601EB0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DA123-A27C-02CC-D345-4D11C0CC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4EED-1DBF-8629-582F-0B4B8E86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6EA1-75EF-FA52-9EB9-FEF962B7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E1E87-088E-53FD-908E-2BA2131A2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D1D6D-D00A-8B9B-492F-C72F0931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C78BA-2C22-26DB-2D59-AF54D4AB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48DDB-DD3D-794F-B5FB-16ED6F05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5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1274-AEEB-51E7-35D6-85E863CE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7D6EB-C9AE-03A6-40F8-FE5E74333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8D75D-0776-E1D9-8F9A-7E05181AB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0DFB3-EB1C-F8CB-EEBE-462C0F55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CF8DE-7E62-AECE-FD65-41A9D8CA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932ED-6961-91F8-AB19-D4D73B15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F1AC-DB97-1058-57D8-D2B06907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198C0-45D4-9912-3248-714D281CC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80F67-1486-6589-4568-C3F6BB94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A25DB-14F2-7565-A976-8A0CF1BB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63F17-9CE0-E4A2-A2FD-CA64DDD6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0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1B923-DF27-7108-B4E5-5C7B22DCB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C6497-A236-DEA9-3BC1-572E36193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3412B-9595-C86F-7894-1EE674E7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121C5-B654-BEA7-51D7-88487BC0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97CC-A83B-0DDC-7055-CD79C430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0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6B5DB-7ED2-6AA9-C0DF-91C236EDC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EC5DC-1018-B953-88C3-55F3413D4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803B8-46CD-99E2-5E20-7B2AEEC5E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FCDFB-3CE8-4125-B161-579EAE376B7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3479E-A1D1-2ACB-DDD5-E013AA7F5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CC2D-0745-F80E-0536-3622D802C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B5EEA-A33D-4118-AFD8-C42A2665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1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05E0-FB8C-02FD-55D2-8E9D5FB38505}"/>
              </a:ext>
            </a:extLst>
          </p:cNvPr>
          <p:cNvSpPr>
            <a:spLocks noGrp="1"/>
          </p:cNvSpPr>
          <p:nvPr/>
        </p:nvSpPr>
        <p:spPr>
          <a:xfrm>
            <a:off x="2156618" y="262338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/>
              <a:t>Proiect-Filtru</a:t>
            </a:r>
            <a:r>
              <a:rPr lang="en-US" b="1" dirty="0"/>
              <a:t> </a:t>
            </a:r>
            <a:r>
              <a:rPr lang="en-US" b="1" dirty="0" err="1"/>
              <a:t>trece</a:t>
            </a:r>
            <a:r>
              <a:rPr lang="en-US" b="1" dirty="0"/>
              <a:t> sus ,BESSEL CU TOPOLOGII DE CELUL</a:t>
            </a:r>
            <a:r>
              <a:rPr lang="ro-RO" b="1" dirty="0"/>
              <a:t>Ă</a:t>
            </a:r>
            <a:r>
              <a:rPr lang="en-US" b="1" dirty="0"/>
              <a:t> BIQUAD SALLEN-KEY+KERWIN HUELSMAN-NEWCOMB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33294-D8FE-8A58-3E37-E6AB90508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218" y="434218"/>
            <a:ext cx="2139950" cy="218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54993B-F182-5E6C-F724-E03633E8E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746" y="507245"/>
            <a:ext cx="2029035" cy="1984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7E8A68-356F-615D-750C-C5071BC1A817}"/>
              </a:ext>
            </a:extLst>
          </p:cNvPr>
          <p:cNvSpPr/>
          <p:nvPr/>
        </p:nvSpPr>
        <p:spPr>
          <a:xfrm>
            <a:off x="7356754" y="5581314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20000"/>
              </a:spcBef>
            </a:pPr>
            <a:r>
              <a:rPr lang="en-US" sz="2000" dirty="0">
                <a:solidFill>
                  <a:prstClr val="black">
                    <a:tint val="75000"/>
                  </a:prstClr>
                </a:solidFill>
              </a:rPr>
              <a:t>Varo Gabriela-Bianca</a:t>
            </a:r>
            <a:endParaRPr lang="ro-RO" sz="2000" dirty="0">
              <a:solidFill>
                <a:prstClr val="black">
                  <a:tint val="75000"/>
                </a:prstClr>
              </a:solidFill>
            </a:endParaRPr>
          </a:p>
          <a:p>
            <a:pPr lvl="0" algn="ctr">
              <a:spcBef>
                <a:spcPct val="20000"/>
              </a:spcBef>
            </a:pPr>
            <a:r>
              <a:rPr lang="ro-RO" sz="2000" dirty="0">
                <a:solidFill>
                  <a:prstClr val="black">
                    <a:tint val="75000"/>
                  </a:prstClr>
                </a:solidFill>
              </a:rPr>
              <a:t>Grupa</a:t>
            </a:r>
            <a:r>
              <a:rPr lang="en-US" sz="2000" dirty="0">
                <a:solidFill>
                  <a:prstClr val="black">
                    <a:tint val="75000"/>
                  </a:prstClr>
                </a:solidFill>
              </a:rPr>
              <a:t> :</a:t>
            </a:r>
            <a:r>
              <a:rPr lang="ro-RO" sz="2000" dirty="0">
                <a:solidFill>
                  <a:prstClr val="black">
                    <a:tint val="75000"/>
                  </a:prstClr>
                </a:solidFill>
              </a:rPr>
              <a:t> 223</a:t>
            </a:r>
            <a:r>
              <a:rPr lang="en-US" sz="2000" dirty="0">
                <a:solidFill>
                  <a:prstClr val="black">
                    <a:tint val="75000"/>
                  </a:prst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905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835D2A-9CC6-583B-96D5-FE1C8F60971D}"/>
              </a:ext>
            </a:extLst>
          </p:cNvPr>
          <p:cNvSpPr/>
          <p:nvPr/>
        </p:nvSpPr>
        <p:spPr>
          <a:xfrm>
            <a:off x="1676400" y="702218"/>
            <a:ext cx="8839200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rgbClr val="FF0000"/>
                </a:solidFill>
                <a:ea typeface="+mj-ea"/>
                <a:cs typeface="+mj-cs"/>
              </a:rPr>
              <a:t>Tema </a:t>
            </a:r>
            <a:r>
              <a:rPr lang="en-US" sz="3200" b="1" dirty="0" err="1">
                <a:solidFill>
                  <a:srgbClr val="FF0000"/>
                </a:solidFill>
                <a:ea typeface="+mj-ea"/>
                <a:cs typeface="+mj-cs"/>
              </a:rPr>
              <a:t>proiectului</a:t>
            </a:r>
            <a:r>
              <a:rPr lang="en-US" sz="3200" b="1" dirty="0">
                <a:solidFill>
                  <a:srgbClr val="FF0000"/>
                </a:solidFill>
                <a:ea typeface="+mj-ea"/>
                <a:cs typeface="+mj-cs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a typeface="+mj-ea"/>
                <a:cs typeface="+mj-cs"/>
              </a:rPr>
              <a:t>si</a:t>
            </a:r>
            <a:r>
              <a:rPr lang="en-US" sz="3200" b="1" dirty="0">
                <a:solidFill>
                  <a:srgbClr val="FF0000"/>
                </a:solidFill>
                <a:ea typeface="+mj-ea"/>
                <a:cs typeface="+mj-cs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a typeface="+mj-ea"/>
                <a:cs typeface="+mj-cs"/>
              </a:rPr>
              <a:t>specificatii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C450D-55D8-8341-59D2-FAB0803B3081}"/>
              </a:ext>
            </a:extLst>
          </p:cNvPr>
          <p:cNvSpPr/>
          <p:nvPr/>
        </p:nvSpPr>
        <p:spPr>
          <a:xfrm>
            <a:off x="1905000" y="1804707"/>
            <a:ext cx="8382000" cy="38554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prstClr val="black"/>
                </a:solidFill>
              </a:rPr>
              <a:t>Tema </a:t>
            </a:r>
            <a:r>
              <a:rPr lang="en-US" sz="2400" b="1" dirty="0" err="1">
                <a:solidFill>
                  <a:prstClr val="black"/>
                </a:solidFill>
              </a:rPr>
              <a:t>proiectului</a:t>
            </a:r>
            <a:r>
              <a:rPr lang="en-US" sz="2400" b="1" dirty="0">
                <a:solidFill>
                  <a:prstClr val="black"/>
                </a:solidFill>
              </a:rPr>
              <a:t>: </a:t>
            </a:r>
            <a:r>
              <a:rPr lang="en-US" sz="2400" dirty="0" err="1">
                <a:solidFill>
                  <a:prstClr val="black"/>
                </a:solidFill>
              </a:rPr>
              <a:t>Filtru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trece</a:t>
            </a:r>
            <a:r>
              <a:rPr lang="en-US" sz="2400" dirty="0">
                <a:solidFill>
                  <a:prstClr val="black"/>
                </a:solidFill>
              </a:rPr>
              <a:t> sus- </a:t>
            </a:r>
            <a:r>
              <a:rPr lang="en-US" sz="2400" dirty="0" err="1">
                <a:solidFill>
                  <a:prstClr val="black"/>
                </a:solidFill>
              </a:rPr>
              <a:t>pentru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frecvente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inalte</a:t>
            </a:r>
            <a:r>
              <a:rPr lang="en-US" sz="2400" dirty="0">
                <a:solidFill>
                  <a:prstClr val="black"/>
                </a:solidFill>
              </a:rPr>
              <a:t> de 3500Hz de </a:t>
            </a:r>
            <a:r>
              <a:rPr lang="en-US" sz="2400" dirty="0" err="1">
                <a:solidFill>
                  <a:prstClr val="black"/>
                </a:solidFill>
              </a:rPr>
              <a:t>ordinul</a:t>
            </a:r>
            <a:r>
              <a:rPr lang="en-US" sz="2400" dirty="0">
                <a:solidFill>
                  <a:prstClr val="black"/>
                </a:solidFill>
              </a:rPr>
              <a:t> 4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prstClr val="black"/>
                </a:solidFill>
              </a:rPr>
              <a:t>Tip </a:t>
            </a:r>
            <a:r>
              <a:rPr lang="en-US" sz="2400" b="1" dirty="0" err="1">
                <a:solidFill>
                  <a:prstClr val="black"/>
                </a:solidFill>
              </a:rPr>
              <a:t>raspuns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filtru</a:t>
            </a:r>
            <a:r>
              <a:rPr lang="en-US" sz="2400" b="1" dirty="0">
                <a:solidFill>
                  <a:prstClr val="black"/>
                </a:solidFill>
              </a:rPr>
              <a:t>: </a:t>
            </a:r>
            <a:r>
              <a:rPr lang="en-US" sz="2400" dirty="0">
                <a:solidFill>
                  <a:prstClr val="black"/>
                </a:solidFill>
              </a:rPr>
              <a:t>Bessel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prstClr val="black"/>
                </a:solidFill>
              </a:rPr>
              <a:t>Topologia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primei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celule</a:t>
            </a:r>
            <a:r>
              <a:rPr lang="en-US" sz="2400" b="1" dirty="0">
                <a:solidFill>
                  <a:prstClr val="black"/>
                </a:solidFill>
              </a:rPr>
              <a:t>: </a:t>
            </a:r>
            <a:r>
              <a:rPr lang="en-US" sz="2400" dirty="0" err="1">
                <a:solidFill>
                  <a:prstClr val="black"/>
                </a:solidFill>
              </a:rPr>
              <a:t>Biquad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Sallen</a:t>
            </a:r>
            <a:r>
              <a:rPr lang="en-US" sz="2400" dirty="0">
                <a:solidFill>
                  <a:prstClr val="black"/>
                </a:solidFill>
              </a:rPr>
              <a:t>-Key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prstClr val="black"/>
                </a:solidFill>
              </a:rPr>
              <a:t>Topologia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celei</a:t>
            </a:r>
            <a:r>
              <a:rPr lang="en-US" sz="2400" b="1" dirty="0">
                <a:solidFill>
                  <a:prstClr val="black"/>
                </a:solidFill>
              </a:rPr>
              <a:t> de-a </a:t>
            </a:r>
            <a:r>
              <a:rPr lang="en-US" sz="2400" b="1" dirty="0" err="1">
                <a:solidFill>
                  <a:prstClr val="black"/>
                </a:solidFill>
              </a:rPr>
              <a:t>doua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celule</a:t>
            </a:r>
            <a:r>
              <a:rPr lang="en-US" sz="2400" b="1" dirty="0">
                <a:solidFill>
                  <a:prstClr val="black"/>
                </a:solidFill>
              </a:rPr>
              <a:t>: </a:t>
            </a:r>
            <a:r>
              <a:rPr lang="en-US" sz="2400" dirty="0" err="1">
                <a:solidFill>
                  <a:prstClr val="black"/>
                </a:solidFill>
              </a:rPr>
              <a:t>Biquad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Kerwin</a:t>
            </a:r>
            <a:r>
              <a:rPr lang="en-US" sz="2400" dirty="0">
                <a:solidFill>
                  <a:prstClr val="black"/>
                </a:solidFill>
              </a:rPr>
              <a:t>-</a:t>
            </a:r>
            <a:r>
              <a:rPr lang="en-US" sz="2400" dirty="0" err="1">
                <a:solidFill>
                  <a:prstClr val="black"/>
                </a:solidFill>
              </a:rPr>
              <a:t>Huelsman</a:t>
            </a:r>
            <a:r>
              <a:rPr lang="en-US" sz="2400" dirty="0">
                <a:solidFill>
                  <a:prstClr val="black"/>
                </a:solidFill>
              </a:rPr>
              <a:t>-Newcomb(KHN)</a:t>
            </a:r>
            <a:endParaRPr lang="en-US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475C48-F13C-55B7-085B-37F52013E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497" y="1460513"/>
            <a:ext cx="6655244" cy="4367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1D45B4-979C-B8C1-E8C6-A76D847F2779}"/>
              </a:ext>
            </a:extLst>
          </p:cNvPr>
          <p:cNvSpPr/>
          <p:nvPr/>
        </p:nvSpPr>
        <p:spPr>
          <a:xfrm>
            <a:off x="513666" y="795188"/>
            <a:ext cx="5130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1.1. </a:t>
            </a:r>
            <a:r>
              <a:rPr lang="en-US" sz="2000" b="1" i="1" dirty="0" err="1"/>
              <a:t>Extragerea</a:t>
            </a:r>
            <a:r>
              <a:rPr lang="en-US" sz="2000" b="1" i="1" dirty="0"/>
              <a:t> </a:t>
            </a:r>
            <a:r>
              <a:rPr lang="en-US" sz="2000" b="1" i="1" dirty="0" err="1"/>
              <a:t>pozi</a:t>
            </a:r>
            <a:r>
              <a:rPr lang="ro-RO" sz="2000" b="1" i="1" dirty="0"/>
              <a:t>ț</a:t>
            </a:r>
            <a:r>
              <a:rPr lang="en-US" sz="2000" b="1" i="1" dirty="0" err="1"/>
              <a:t>iei</a:t>
            </a:r>
            <a:r>
              <a:rPr lang="en-US" sz="2000" b="1" i="1" dirty="0"/>
              <a:t> </a:t>
            </a:r>
            <a:r>
              <a:rPr lang="en-US" sz="2000" b="1" i="1" dirty="0" err="1"/>
              <a:t>poliilor</a:t>
            </a:r>
            <a:r>
              <a:rPr lang="en-US" sz="2000" b="1" i="1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A76E0-58E5-CC8F-5944-5F5E44BB5D93}"/>
              </a:ext>
            </a:extLst>
          </p:cNvPr>
          <p:cNvSpPr/>
          <p:nvPr/>
        </p:nvSpPr>
        <p:spPr>
          <a:xfrm>
            <a:off x="4886856" y="234434"/>
            <a:ext cx="263604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o-RO" sz="3200" b="1" dirty="0">
                <a:solidFill>
                  <a:srgbClr val="FF0000"/>
                </a:solidFill>
                <a:cs typeface="Times New Roman" pitchFamily="18" charset="0"/>
              </a:rPr>
              <a:t>1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ro-RO" sz="3200" b="1" dirty="0">
                <a:solidFill>
                  <a:srgbClr val="FF0000"/>
                </a:solidFill>
                <a:cs typeface="Times New Roman" pitchFamily="18" charset="0"/>
              </a:rPr>
              <a:t>. 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CALCULE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D4154A4-B74B-43E1-D1AC-2CE33E0710DE}"/>
              </a:ext>
            </a:extLst>
          </p:cNvPr>
          <p:cNvSpPr txBox="1"/>
          <p:nvPr/>
        </p:nvSpPr>
        <p:spPr>
          <a:xfrm>
            <a:off x="6282390" y="6254234"/>
            <a:ext cx="390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i="1" dirty="0"/>
              <a:t>Din cartea</a:t>
            </a:r>
            <a:r>
              <a:rPr lang="en-US" i="1" dirty="0"/>
              <a:t> ”</a:t>
            </a:r>
            <a:r>
              <a:rPr lang="ro-RO" i="1" dirty="0"/>
              <a:t>Op_Amps For Everyone</a:t>
            </a:r>
            <a:r>
              <a:rPr lang="en-US" i="1" dirty="0"/>
              <a:t>”</a:t>
            </a:r>
          </a:p>
        </p:txBody>
      </p:sp>
      <p:sp>
        <p:nvSpPr>
          <p:cNvPr id="8" name="Dreptunghi: colțuri rotunjite 7">
            <a:extLst>
              <a:ext uri="{FF2B5EF4-FFF2-40B4-BE49-F238E27FC236}">
                <a16:creationId xmlns:a16="http://schemas.microsoft.com/office/drawing/2014/main" id="{627FA2BC-1339-158F-651A-C43AB232F628}"/>
              </a:ext>
            </a:extLst>
          </p:cNvPr>
          <p:cNvSpPr/>
          <p:nvPr/>
        </p:nvSpPr>
        <p:spPr>
          <a:xfrm>
            <a:off x="3500213" y="2920181"/>
            <a:ext cx="4768716" cy="3146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9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87C10F-E547-22CC-9EB4-3E1D02A4A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t="4395" b="35971"/>
          <a:stretch>
            <a:fillRect/>
          </a:stretch>
        </p:blipFill>
        <p:spPr>
          <a:xfrm>
            <a:off x="0" y="-5024"/>
            <a:ext cx="7562827" cy="5426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2444FF-1B6F-81F3-7ED0-3028019B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88"/>
          <a:stretch>
            <a:fillRect/>
          </a:stretch>
        </p:blipFill>
        <p:spPr>
          <a:xfrm>
            <a:off x="4855155" y="3748035"/>
            <a:ext cx="7635731" cy="310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1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CF9ED1-E385-8E25-709A-BF9ADA7A4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90" y="101755"/>
            <a:ext cx="9144000" cy="371127"/>
          </a:xfrm>
        </p:spPr>
        <p:txBody>
          <a:bodyPr wrap="square">
            <a:spAutoFit/>
          </a:bodyPr>
          <a:lstStyle/>
          <a:p>
            <a:pPr algn="l"/>
            <a:r>
              <a:rPr lang="en-US" sz="2000" b="1" i="1" dirty="0"/>
              <a:t>1.2.Transformarea in FTS + </a:t>
            </a:r>
            <a:r>
              <a:rPr lang="en-US" sz="2000" b="1" i="1" dirty="0" err="1"/>
              <a:t>calculele</a:t>
            </a:r>
            <a:r>
              <a:rPr lang="en-US" sz="2000" b="1" i="1" dirty="0"/>
              <a:t> </a:t>
            </a:r>
            <a:r>
              <a:rPr lang="en-US" sz="2000" b="1" i="1" dirty="0" err="1"/>
              <a:t>pentru</a:t>
            </a:r>
            <a:r>
              <a:rPr lang="en-US" sz="2000" b="1" i="1" dirty="0"/>
              <a:t> w0 </a:t>
            </a:r>
            <a:r>
              <a:rPr lang="en-US" sz="2000" b="1" i="1" dirty="0" err="1"/>
              <a:t>si</a:t>
            </a:r>
            <a:r>
              <a:rPr lang="en-US" sz="2000" b="1" i="1" dirty="0"/>
              <a:t> Q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62BF7-D690-7475-8AED-63DBDC852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5" t="6151" r="52600" b="45146"/>
          <a:stretch>
            <a:fillRect/>
          </a:stretch>
        </p:blipFill>
        <p:spPr>
          <a:xfrm>
            <a:off x="0" y="822961"/>
            <a:ext cx="5270722" cy="5577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B2866-D11D-3586-C555-CD32BCE84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8" t="58963" r="29042"/>
          <a:stretch>
            <a:fillRect/>
          </a:stretch>
        </p:blipFill>
        <p:spPr>
          <a:xfrm>
            <a:off x="4915826" y="2540000"/>
            <a:ext cx="7142783" cy="413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4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AA20-036F-A5B6-1484-C5A85A02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0FDDBE-18E1-6E94-D633-1D4919312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0" y="437035"/>
            <a:ext cx="9144000" cy="371127"/>
          </a:xfrm>
        </p:spPr>
        <p:txBody>
          <a:bodyPr wrap="square">
            <a:spAutoFit/>
          </a:bodyPr>
          <a:lstStyle/>
          <a:p>
            <a:pPr algn="l"/>
            <a:r>
              <a:rPr lang="en-US" sz="2000" b="1" i="1" dirty="0"/>
              <a:t>1.3. </a:t>
            </a:r>
            <a:r>
              <a:rPr lang="en-US" sz="2000" b="1" i="1" dirty="0" err="1"/>
              <a:t>Denormarea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B4C33-7844-F7C8-8EC3-2245CB2A5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2530"/>
            <a:ext cx="12192000" cy="47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1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5062-2B2E-7CA5-147E-2D65CD61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05" y="1009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1.1.B.Caracteristica de transfer 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comparata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cea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BW la1Hz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F4ABA0-95B7-B599-A80A-01DC7D75B8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7" r="747"/>
          <a:stretch>
            <a:fillRect/>
          </a:stretch>
        </p:blipFill>
        <p:spPr>
          <a:xfrm>
            <a:off x="0" y="2093247"/>
            <a:ext cx="12192000" cy="42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2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D1D9F-9C90-8EA3-0B86-2F8357A735FF}"/>
              </a:ext>
            </a:extLst>
          </p:cNvPr>
          <p:cNvSpPr txBox="1"/>
          <p:nvPr/>
        </p:nvSpPr>
        <p:spPr>
          <a:xfrm>
            <a:off x="101409" y="20981"/>
            <a:ext cx="12090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/>
              <a:t>Caracteristica</a:t>
            </a:r>
            <a:r>
              <a:rPr lang="en-US" sz="4000" b="1" dirty="0"/>
              <a:t> de transfer a </a:t>
            </a:r>
            <a:r>
              <a:rPr lang="en-US" sz="4000" b="1" dirty="0" err="1"/>
              <a:t>filtrului</a:t>
            </a:r>
            <a:r>
              <a:rPr lang="en-US" sz="4000" b="1" dirty="0"/>
              <a:t> </a:t>
            </a:r>
            <a:r>
              <a:rPr lang="en-US" sz="4000" b="1" dirty="0" err="1"/>
              <a:t>bw</a:t>
            </a:r>
            <a:r>
              <a:rPr lang="en-US" sz="4000" b="1" dirty="0"/>
              <a:t> la </a:t>
            </a:r>
            <a:r>
              <a:rPr lang="en-US" sz="4000" b="1" dirty="0" err="1"/>
              <a:t>frecventa</a:t>
            </a:r>
            <a:r>
              <a:rPr lang="en-US" sz="4000" b="1" dirty="0"/>
              <a:t> de 1Hz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E9163-19D3-0A09-5071-195DD267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" y="1251067"/>
            <a:ext cx="12090591" cy="58649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5FE4E7-A3A8-571F-29F8-9FD1EF5BCDB3}"/>
              </a:ext>
            </a:extLst>
          </p:cNvPr>
          <p:cNvCxnSpPr/>
          <p:nvPr/>
        </p:nvCxnSpPr>
        <p:spPr>
          <a:xfrm>
            <a:off x="4299404" y="3717310"/>
            <a:ext cx="1586204" cy="8770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7F4202-3777-A72A-F2BC-F08E2BA1E662}"/>
              </a:ext>
            </a:extLst>
          </p:cNvPr>
          <p:cNvCxnSpPr>
            <a:cxnSpLocks/>
          </p:cNvCxnSpPr>
          <p:nvPr/>
        </p:nvCxnSpPr>
        <p:spPr>
          <a:xfrm>
            <a:off x="4994955" y="4855029"/>
            <a:ext cx="2145927" cy="51845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BBCB5F-5665-D4D2-B8A3-D6DEE8BEFC24}"/>
                  </a:ext>
                </a:extLst>
              </p:cNvPr>
              <p:cNvSpPr txBox="1"/>
              <p:nvPr/>
            </p:nvSpPr>
            <p:spPr>
              <a:xfrm>
                <a:off x="3472542" y="3380635"/>
                <a:ext cx="1328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b="1" dirty="0"/>
                  <a:t>1Hz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BBCB5F-5665-D4D2-B8A3-D6DEE8BEF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542" y="3380635"/>
                <a:ext cx="1328057" cy="369332"/>
              </a:xfrm>
              <a:prstGeom prst="rect">
                <a:avLst/>
              </a:prstGeom>
              <a:blipFill>
                <a:blip r:embed="rId3"/>
                <a:stretch>
                  <a:fillRect l="-4147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FAFAC5-9CF9-BF95-7FE5-A5C384111EC4}"/>
                  </a:ext>
                </a:extLst>
              </p:cNvPr>
              <p:cNvSpPr txBox="1"/>
              <p:nvPr/>
            </p:nvSpPr>
            <p:spPr>
              <a:xfrm>
                <a:off x="4027714" y="4561731"/>
                <a:ext cx="1121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𝟑𝐃𝐛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FAFAC5-9CF9-BF95-7FE5-A5C384111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14" y="4561731"/>
                <a:ext cx="1121229" cy="369332"/>
              </a:xfrm>
              <a:prstGeom prst="rect">
                <a:avLst/>
              </a:prstGeom>
              <a:blipFill>
                <a:blip r:embed="rId4"/>
                <a:stretch>
                  <a:fillRect l="-489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8C54BC6B-C290-1507-10A8-090FE0137A2D}"/>
              </a:ext>
            </a:extLst>
          </p:cNvPr>
          <p:cNvSpPr/>
          <p:nvPr/>
        </p:nvSpPr>
        <p:spPr>
          <a:xfrm>
            <a:off x="6067918" y="4597107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3BB522-D962-6904-C70C-DD53855C3E72}"/>
              </a:ext>
            </a:extLst>
          </p:cNvPr>
          <p:cNvSpPr/>
          <p:nvPr/>
        </p:nvSpPr>
        <p:spPr>
          <a:xfrm>
            <a:off x="7140882" y="5175516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63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8151-5000-48EF-40D9-053538CE3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786" y="-460127"/>
            <a:ext cx="10722428" cy="1600200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Caracteristica</a:t>
            </a:r>
            <a:r>
              <a:rPr lang="en-US" sz="4000" b="1" dirty="0"/>
              <a:t> de transfer a </a:t>
            </a:r>
            <a:r>
              <a:rPr lang="en-US" sz="4000" b="1" dirty="0" err="1"/>
              <a:t>filtrului</a:t>
            </a:r>
            <a:r>
              <a:rPr lang="en-US" sz="4000" b="1" dirty="0"/>
              <a:t> Bessel la </a:t>
            </a:r>
            <a:r>
              <a:rPr lang="en-US" sz="4000" b="1" dirty="0" err="1"/>
              <a:t>frecventa</a:t>
            </a:r>
            <a:r>
              <a:rPr lang="en-US" sz="4000" b="1" dirty="0"/>
              <a:t> de 1 Hz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75798-75C2-3C12-AE96-B37F0883D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F188F1-47C3-B3B4-3D40-FB18D070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0073"/>
            <a:ext cx="12192000" cy="57167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E432B5-782D-2E80-0E57-41E7000CFE7C}"/>
              </a:ext>
            </a:extLst>
          </p:cNvPr>
          <p:cNvSpPr/>
          <p:nvPr/>
        </p:nvSpPr>
        <p:spPr>
          <a:xfrm>
            <a:off x="6096000" y="4375490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366EF-87FF-C1F9-152F-95A32E155759}"/>
              </a:ext>
            </a:extLst>
          </p:cNvPr>
          <p:cNvSpPr/>
          <p:nvPr/>
        </p:nvSpPr>
        <p:spPr>
          <a:xfrm>
            <a:off x="7263881" y="4959221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4B052B-7CD3-7268-E80D-F62626057807}"/>
              </a:ext>
            </a:extLst>
          </p:cNvPr>
          <p:cNvCxnSpPr/>
          <p:nvPr/>
        </p:nvCxnSpPr>
        <p:spPr>
          <a:xfrm>
            <a:off x="4332061" y="3559930"/>
            <a:ext cx="1586204" cy="8770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0B194A-7BDA-84F0-F7BD-01DD536DB4A8}"/>
              </a:ext>
            </a:extLst>
          </p:cNvPr>
          <p:cNvCxnSpPr>
            <a:cxnSpLocks/>
          </p:cNvCxnSpPr>
          <p:nvPr/>
        </p:nvCxnSpPr>
        <p:spPr>
          <a:xfrm>
            <a:off x="5040086" y="4524779"/>
            <a:ext cx="2026753" cy="6089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EB113B-E6EF-70D3-15A2-2D1F50B35AD1}"/>
                  </a:ext>
                </a:extLst>
              </p:cNvPr>
              <p:cNvSpPr txBox="1"/>
              <p:nvPr/>
            </p:nvSpPr>
            <p:spPr>
              <a:xfrm>
                <a:off x="3363686" y="3232706"/>
                <a:ext cx="1284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b="1" dirty="0"/>
                  <a:t>1Hz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EB113B-E6EF-70D3-15A2-2D1F50B35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686" y="3232706"/>
                <a:ext cx="1284061" cy="369332"/>
              </a:xfrm>
              <a:prstGeom prst="rect">
                <a:avLst/>
              </a:prstGeom>
              <a:blipFill>
                <a:blip r:embed="rId4"/>
                <a:stretch>
                  <a:fillRect l="-428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38AE7-19FB-AD85-76F4-9FD3482C121F}"/>
                  </a:ext>
                </a:extLst>
              </p:cNvPr>
              <p:cNvSpPr txBox="1"/>
              <p:nvPr/>
            </p:nvSpPr>
            <p:spPr>
              <a:xfrm>
                <a:off x="4005716" y="4155447"/>
                <a:ext cx="1284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𝟑𝐃𝐛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38AE7-19FB-AD85-76F4-9FD3482C1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716" y="4155447"/>
                <a:ext cx="1284061" cy="369332"/>
              </a:xfrm>
              <a:prstGeom prst="rect">
                <a:avLst/>
              </a:prstGeom>
              <a:blipFill>
                <a:blip r:embed="rId5"/>
                <a:stretch>
                  <a:fillRect l="-379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341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270C-3CDF-78D6-42EC-80278959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1.2.B.Caracteristica de transfer 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comparata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cea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BW la 3.5kHz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47AC-E984-78CB-B72C-37F1BEA03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6921"/>
            <a:ext cx="12192000" cy="442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8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E65F-FF61-D93C-22C4-B796069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97485"/>
            <a:ext cx="1269274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/>
              <a:t>Caracteristica</a:t>
            </a:r>
            <a:r>
              <a:rPr lang="en-US" sz="3600" b="1" dirty="0"/>
              <a:t> de transfer a </a:t>
            </a:r>
            <a:r>
              <a:rPr lang="en-US" sz="3600" b="1" dirty="0" err="1"/>
              <a:t>filtrului</a:t>
            </a:r>
            <a:r>
              <a:rPr lang="en-US" sz="3600" b="1" dirty="0"/>
              <a:t> Bessel la </a:t>
            </a:r>
            <a:r>
              <a:rPr lang="en-US" sz="3600" b="1" dirty="0" err="1"/>
              <a:t>frecventa</a:t>
            </a:r>
            <a:r>
              <a:rPr lang="en-US" sz="3600" b="1" dirty="0"/>
              <a:t> de 3500Hz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DA3A86-04DD-EBC6-6EA7-D675A850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3048"/>
            <a:ext cx="12192000" cy="58575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8C9EF9-BF74-E4C8-A1FE-759F426B4431}"/>
              </a:ext>
            </a:extLst>
          </p:cNvPr>
          <p:cNvSpPr/>
          <p:nvPr/>
        </p:nvSpPr>
        <p:spPr>
          <a:xfrm>
            <a:off x="6008914" y="4856733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FDEEA4-75D5-DBF8-77D6-9CFE28613EFF}"/>
              </a:ext>
            </a:extLst>
          </p:cNvPr>
          <p:cNvSpPr/>
          <p:nvPr/>
        </p:nvSpPr>
        <p:spPr>
          <a:xfrm>
            <a:off x="7249886" y="5444561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0E2AA5-0B66-0050-2F5A-6A3193AE9D95}"/>
              </a:ext>
            </a:extLst>
          </p:cNvPr>
          <p:cNvCxnSpPr/>
          <p:nvPr/>
        </p:nvCxnSpPr>
        <p:spPr>
          <a:xfrm>
            <a:off x="4422710" y="4013260"/>
            <a:ext cx="1586204" cy="8770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1A6041-81B7-52C7-2F8A-9B14B8796FC9}"/>
              </a:ext>
            </a:extLst>
          </p:cNvPr>
          <p:cNvCxnSpPr>
            <a:cxnSpLocks/>
          </p:cNvCxnSpPr>
          <p:nvPr/>
        </p:nvCxnSpPr>
        <p:spPr>
          <a:xfrm>
            <a:off x="4669971" y="5006022"/>
            <a:ext cx="2469501" cy="5878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E217C6-12B9-1E99-F862-885D74B898E7}"/>
                  </a:ext>
                </a:extLst>
              </p:cNvPr>
              <p:cNvSpPr txBox="1"/>
              <p:nvPr/>
            </p:nvSpPr>
            <p:spPr>
              <a:xfrm>
                <a:off x="3247830" y="3897801"/>
                <a:ext cx="63899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𝟓𝐤</m:t>
                    </m:r>
                  </m:oMath>
                </a14:m>
                <a:r>
                  <a:rPr lang="en-US" b="1" dirty="0"/>
                  <a:t>Hz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E217C6-12B9-1E99-F862-885D74B8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830" y="3897801"/>
                <a:ext cx="6389914" cy="369332"/>
              </a:xfrm>
              <a:prstGeom prst="rect">
                <a:avLst/>
              </a:prstGeom>
              <a:blipFill>
                <a:blip r:embed="rId4"/>
                <a:stretch>
                  <a:fillRect l="-85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FBFA45-C934-DECC-A4C4-3947689A2E95}"/>
                  </a:ext>
                </a:extLst>
              </p:cNvPr>
              <p:cNvSpPr txBox="1"/>
              <p:nvPr/>
            </p:nvSpPr>
            <p:spPr>
              <a:xfrm>
                <a:off x="3543300" y="4865290"/>
                <a:ext cx="63463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𝟑𝐃𝐛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FBFA45-C934-DECC-A4C4-3947689A2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00" y="4865290"/>
                <a:ext cx="6346370" cy="369332"/>
              </a:xfrm>
              <a:prstGeom prst="rect">
                <a:avLst/>
              </a:prstGeom>
              <a:blipFill>
                <a:blip r:embed="rId5"/>
                <a:stretch>
                  <a:fillRect l="-76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76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CFDB-5BE1-ADC3-3DCD-F3CD33D29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7411"/>
            <a:ext cx="1231174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/>
              <a:t>Caracteristica</a:t>
            </a:r>
            <a:r>
              <a:rPr lang="en-US" sz="3600" b="1" dirty="0"/>
              <a:t> de transfer a </a:t>
            </a:r>
            <a:r>
              <a:rPr lang="en-US" sz="3600" b="1" dirty="0" err="1"/>
              <a:t>filtrului</a:t>
            </a:r>
            <a:r>
              <a:rPr lang="en-US" sz="3600" b="1" dirty="0"/>
              <a:t> BW la </a:t>
            </a:r>
            <a:r>
              <a:rPr lang="en-US" sz="3600" b="1" dirty="0" err="1"/>
              <a:t>frecventa</a:t>
            </a:r>
            <a:r>
              <a:rPr lang="en-US" sz="3600" b="1" dirty="0"/>
              <a:t> de 3500Hz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95CA0-5509-1F96-B89B-AD7EB3BA0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6060"/>
            <a:ext cx="12192000" cy="59683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F5F0D4-8B23-BCFD-5C78-22F69A616735}"/>
                  </a:ext>
                </a:extLst>
              </p:cNvPr>
              <p:cNvSpPr txBox="1"/>
              <p:nvPr/>
            </p:nvSpPr>
            <p:spPr>
              <a:xfrm>
                <a:off x="3717083" y="5089338"/>
                <a:ext cx="63191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𝟑𝐃𝐛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F5F0D4-8B23-BCFD-5C78-22F69A61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83" y="5089338"/>
                <a:ext cx="6319156" cy="369332"/>
              </a:xfrm>
              <a:prstGeom prst="rect">
                <a:avLst/>
              </a:prstGeom>
              <a:blipFill>
                <a:blip r:embed="rId4"/>
                <a:stretch>
                  <a:fillRect l="-869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11C809-D470-7DF2-DC32-49C9306AF671}"/>
                  </a:ext>
                </a:extLst>
              </p:cNvPr>
              <p:cNvSpPr txBox="1"/>
              <p:nvPr/>
            </p:nvSpPr>
            <p:spPr>
              <a:xfrm>
                <a:off x="3562350" y="3742356"/>
                <a:ext cx="63191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𝟓𝐤</m:t>
                    </m:r>
                  </m:oMath>
                </a14:m>
                <a:r>
                  <a:rPr lang="en-US" b="1" dirty="0"/>
                  <a:t>Hz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11C809-D470-7DF2-DC32-49C9306AF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350" y="3742356"/>
                <a:ext cx="6319156" cy="369332"/>
              </a:xfrm>
              <a:prstGeom prst="rect">
                <a:avLst/>
              </a:prstGeom>
              <a:blipFill>
                <a:blip r:embed="rId5"/>
                <a:stretch>
                  <a:fillRect l="-77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8E318B0-F7A3-54B1-661D-9E600DA529AF}"/>
              </a:ext>
            </a:extLst>
          </p:cNvPr>
          <p:cNvSpPr/>
          <p:nvPr/>
        </p:nvSpPr>
        <p:spPr>
          <a:xfrm>
            <a:off x="6008914" y="4900275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5D8269-F3AF-4E71-8D24-DEB2101EECD7}"/>
              </a:ext>
            </a:extLst>
          </p:cNvPr>
          <p:cNvCxnSpPr/>
          <p:nvPr/>
        </p:nvCxnSpPr>
        <p:spPr>
          <a:xfrm>
            <a:off x="4422710" y="4111688"/>
            <a:ext cx="1586204" cy="8770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CF812E-333E-1526-D891-06BBE85C851C}"/>
              </a:ext>
            </a:extLst>
          </p:cNvPr>
          <p:cNvCxnSpPr>
            <a:cxnSpLocks/>
          </p:cNvCxnSpPr>
          <p:nvPr/>
        </p:nvCxnSpPr>
        <p:spPr>
          <a:xfrm>
            <a:off x="4855029" y="5291940"/>
            <a:ext cx="2230792" cy="2869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A7F20-0BED-2EBB-7112-C1D63DEB06F2}"/>
              </a:ext>
            </a:extLst>
          </p:cNvPr>
          <p:cNvSpPr/>
          <p:nvPr/>
        </p:nvSpPr>
        <p:spPr>
          <a:xfrm>
            <a:off x="7259409" y="5498443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805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3A3C-F7F1-8498-14DA-FED9BAFC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419" y="100335"/>
            <a:ext cx="10101943" cy="1277031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1.C.Raspuns la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treapta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al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comparat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cu cel al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BW la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frecventa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de 3.5kHz(Vin)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5A1FB-05D4-E4F6-B264-B932E8E9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1690688"/>
            <a:ext cx="11135848" cy="5167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EB2237-0FD1-B8BA-4A34-D470E0132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044" y="4971368"/>
            <a:ext cx="3892763" cy="159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5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ABD1-4C5F-1F68-C94D-CE008EDA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 err="1">
                <a:solidFill>
                  <a:prstClr val="black"/>
                </a:solidFill>
              </a:rPr>
              <a:t>Raspunsul</a:t>
            </a:r>
            <a:r>
              <a:rPr lang="en-US" sz="3600" b="1" dirty="0">
                <a:solidFill>
                  <a:prstClr val="black"/>
                </a:solidFill>
              </a:rPr>
              <a:t> in </a:t>
            </a:r>
            <a:r>
              <a:rPr lang="en-US" sz="3600" b="1" dirty="0" err="1">
                <a:solidFill>
                  <a:prstClr val="black"/>
                </a:solidFill>
              </a:rPr>
              <a:t>treapta-compararea</a:t>
            </a:r>
            <a:r>
              <a:rPr lang="en-US" sz="3600" b="1" dirty="0">
                <a:solidFill>
                  <a:prstClr val="black"/>
                </a:solidFill>
              </a:rPr>
              <a:t> </a:t>
            </a:r>
            <a:r>
              <a:rPr lang="en-US" sz="3600" b="1" dirty="0" err="1">
                <a:solidFill>
                  <a:prstClr val="black"/>
                </a:solidFill>
              </a:rPr>
              <a:t>dintre</a:t>
            </a:r>
            <a:r>
              <a:rPr lang="en-US" sz="3600" b="1" dirty="0">
                <a:solidFill>
                  <a:prstClr val="black"/>
                </a:solidFill>
              </a:rPr>
              <a:t> BW </a:t>
            </a:r>
            <a:r>
              <a:rPr lang="ro-RO" sz="3600" b="1" dirty="0">
                <a:solidFill>
                  <a:prstClr val="black"/>
                </a:solidFill>
              </a:rPr>
              <a:t>ș</a:t>
            </a:r>
            <a:r>
              <a:rPr lang="en-US" sz="3600" b="1" dirty="0" err="1">
                <a:solidFill>
                  <a:prstClr val="black"/>
                </a:solidFill>
              </a:rPr>
              <a:t>i</a:t>
            </a:r>
            <a:r>
              <a:rPr lang="en-US" sz="3600" b="1" dirty="0">
                <a:solidFill>
                  <a:prstClr val="black"/>
                </a:solidFill>
              </a:rPr>
              <a:t> BS la f=3500Hz(</a:t>
            </a:r>
            <a:r>
              <a:rPr lang="en-US" sz="3600" b="1" dirty="0" err="1">
                <a:solidFill>
                  <a:prstClr val="black"/>
                </a:solidFill>
              </a:rPr>
              <a:t>analiza</a:t>
            </a:r>
            <a:r>
              <a:rPr lang="en-US" sz="3600" b="1" dirty="0">
                <a:solidFill>
                  <a:prstClr val="black"/>
                </a:solidFill>
              </a:rPr>
              <a:t> </a:t>
            </a:r>
            <a:r>
              <a:rPr lang="en-US" sz="3600" b="1" dirty="0" err="1">
                <a:solidFill>
                  <a:prstClr val="black"/>
                </a:solidFill>
              </a:rPr>
              <a:t>tranzitorie</a:t>
            </a:r>
            <a:r>
              <a:rPr lang="en-US" sz="3600" b="1" dirty="0">
                <a:solidFill>
                  <a:prstClr val="black"/>
                </a:solidFill>
              </a:rPr>
              <a:t>/</a:t>
            </a:r>
            <a:r>
              <a:rPr lang="ro-RO" sz="3600" b="1" dirty="0">
                <a:solidFill>
                  <a:prstClr val="black"/>
                </a:solidFill>
              </a:rPr>
              <a:t>î</a:t>
            </a:r>
            <a:r>
              <a:rPr lang="en-US" sz="3600" b="1" dirty="0">
                <a:solidFill>
                  <a:prstClr val="black"/>
                </a:solidFill>
              </a:rPr>
              <a:t>n </a:t>
            </a:r>
            <a:r>
              <a:rPr lang="en-US" sz="3600" b="1" dirty="0" err="1">
                <a:solidFill>
                  <a:prstClr val="black"/>
                </a:solidFill>
              </a:rPr>
              <a:t>timp</a:t>
            </a:r>
            <a:r>
              <a:rPr lang="en-US" sz="3600" b="1" dirty="0">
                <a:solidFill>
                  <a:prstClr val="black"/>
                </a:solidFill>
              </a:rPr>
              <a:t>)</a:t>
            </a:r>
            <a:br>
              <a:rPr lang="en-US" sz="3600" b="1" dirty="0">
                <a:solidFill>
                  <a:prstClr val="black"/>
                </a:solidFill>
              </a:rPr>
            </a:b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2F566-D3A8-6E25-75B8-72AA42149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89" y="1445328"/>
            <a:ext cx="11247567" cy="541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77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5022-699D-6CA4-9204-26D00F5C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228" y="-1138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2.A.Deducerea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expresiilor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H(s)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pentru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SALLEN-KEY+KERWIN HUELSMAN-NEWCOMB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7BB45-0822-FF73-EF9A-6468D5B76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" t="3896" r="8198" b="-1197"/>
          <a:stretch>
            <a:fillRect/>
          </a:stretch>
        </p:blipFill>
        <p:spPr>
          <a:xfrm>
            <a:off x="0" y="952953"/>
            <a:ext cx="6305919" cy="6068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AD19B9-A1D2-5A1F-C5D6-4C8755FC6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3" t="11514" r="20070" b="10794"/>
          <a:stretch>
            <a:fillRect/>
          </a:stretch>
        </p:blipFill>
        <p:spPr>
          <a:xfrm>
            <a:off x="6749144" y="937886"/>
            <a:ext cx="4680856" cy="592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6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17E2EE-FF20-F01F-EAD7-BD0E5F011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6" t="5569" r="24842" b="54937"/>
          <a:stretch>
            <a:fillRect/>
          </a:stretch>
        </p:blipFill>
        <p:spPr>
          <a:xfrm>
            <a:off x="13523" y="72342"/>
            <a:ext cx="5482353" cy="4030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76B8DA-30E9-BFF0-DC76-A043EB6A8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398" y="2265745"/>
            <a:ext cx="6709647" cy="45777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FAEB2A-08B6-CA8B-1D52-12BCE62A9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6" t="47033" r="34691" b="25192"/>
          <a:stretch>
            <a:fillRect/>
          </a:stretch>
        </p:blipFill>
        <p:spPr>
          <a:xfrm>
            <a:off x="1" y="4102484"/>
            <a:ext cx="5185458" cy="27555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D32549-9CFD-A0D7-0968-80E7E5B1A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5" t="74769" r="38883" b="16455"/>
          <a:stretch>
            <a:fillRect/>
          </a:stretch>
        </p:blipFill>
        <p:spPr>
          <a:xfrm>
            <a:off x="5703903" y="726312"/>
            <a:ext cx="6586951" cy="153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13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CC413-BA64-CB2E-4486-AB71C5952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471"/>
            <a:ext cx="6645230" cy="4589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20170-C56D-516A-02D7-0FA2F54AD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03" y="0"/>
            <a:ext cx="55849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3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917472-EDE1-240D-2298-259A30699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" t="4375" r="26759" b="51570"/>
          <a:stretch>
            <a:fillRect/>
          </a:stretch>
        </p:blipFill>
        <p:spPr>
          <a:xfrm>
            <a:off x="0" y="81024"/>
            <a:ext cx="4902290" cy="4095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B1CBDC-A74A-E9A3-2A51-1D9253500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0" t="5355" r="14026"/>
          <a:stretch>
            <a:fillRect/>
          </a:stretch>
        </p:blipFill>
        <p:spPr>
          <a:xfrm>
            <a:off x="6709461" y="2681254"/>
            <a:ext cx="3611817" cy="4095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F27683-7FC9-8DEB-52E8-6056091E7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5" t="48439" r="29098" b="31322"/>
          <a:stretch>
            <a:fillRect/>
          </a:stretch>
        </p:blipFill>
        <p:spPr>
          <a:xfrm>
            <a:off x="0" y="4363657"/>
            <a:ext cx="5482541" cy="20950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F71739-E363-0EA6-DF75-2974E45C1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" t="69451" r="6290" b="3591"/>
          <a:stretch>
            <a:fillRect/>
          </a:stretch>
        </p:blipFill>
        <p:spPr>
          <a:xfrm>
            <a:off x="5586714" y="81024"/>
            <a:ext cx="6516180" cy="261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5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9A0A-13F7-7F9D-08EC-B6A2BA5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395" y="-352506"/>
            <a:ext cx="10515600" cy="132556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3.Dimensionare </a:t>
            </a:r>
            <a:r>
              <a:rPr lang="en-US" sz="3600" b="1" dirty="0" err="1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Biquad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 Sallen-Key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24935-DB5F-0E45-C281-F01744005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2" t="6582" r="3835"/>
          <a:stretch>
            <a:fillRect/>
          </a:stretch>
        </p:blipFill>
        <p:spPr>
          <a:xfrm>
            <a:off x="0" y="629594"/>
            <a:ext cx="5810491" cy="4919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20EB6E-1467-FCE4-36EF-4FC7078F1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r="14838" b="59945"/>
          <a:stretch>
            <a:fillRect/>
          </a:stretch>
        </p:blipFill>
        <p:spPr>
          <a:xfrm>
            <a:off x="5920198" y="912720"/>
            <a:ext cx="6308065" cy="1794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AB3CC1-5EFD-D863-5706-6B2E1A60A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7" t="39620" r="2500" b="8098"/>
          <a:stretch>
            <a:fillRect/>
          </a:stretch>
        </p:blipFill>
        <p:spPr>
          <a:xfrm>
            <a:off x="6067649" y="2815893"/>
            <a:ext cx="6160614" cy="191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83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3DFC6CF-A5C0-0E02-7C3D-CEA58AB61060}"/>
              </a:ext>
            </a:extLst>
          </p:cNvPr>
          <p:cNvSpPr txBox="1"/>
          <p:nvPr/>
        </p:nvSpPr>
        <p:spPr>
          <a:xfrm>
            <a:off x="2259957" y="482069"/>
            <a:ext cx="8527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j-ea"/>
                <a:cs typeface="Times New Roman" pitchFamily="18" charset="0"/>
              </a:rPr>
              <a:t>3.Dimensionare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j-ea"/>
                <a:cs typeface="Times New Roman" pitchFamily="18" charset="0"/>
              </a:rPr>
              <a:t>Biquad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j-ea"/>
                <a:cs typeface="Times New Roman" pitchFamily="18" charset="0"/>
              </a:rPr>
              <a:t> Sallen-Key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240BA-97E1-E511-2190-8BC96E39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12" y="2029281"/>
            <a:ext cx="7285517" cy="338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73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DD1473-C56E-3277-4E8A-5CAEF3287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2333"/>
            <a:ext cx="7987690" cy="6055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DF4F34-5DE1-D3C3-D083-BD9A95D8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3.Dimensionare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Biquad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Kerwin Huelsman-Newcomb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8D925-6C61-3F5C-DD10-1A7B68E1E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983" b="86244" l="10761" r="79344">
                        <a14:backgroundMark x1="53375" y1="7337" x2="71313" y2="8574"/>
                        <a14:backgroundMark x1="71313" y1="8574" x2="71188" y2="989"/>
                        <a14:backgroundMark x1="71188" y1="989" x2="53938" y2="1484"/>
                        <a14:backgroundMark x1="53938" y1="1484" x2="53375" y2="73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88" t="2700" r="12083" b="4473"/>
          <a:stretch>
            <a:fillRect/>
          </a:stretch>
        </p:blipFill>
        <p:spPr>
          <a:xfrm>
            <a:off x="0" y="1811438"/>
            <a:ext cx="7755038" cy="63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93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C867-58C6-9322-A1AE-963F7319C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3.Dimensionare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Biquad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Kerwin Huelsman-Newcomb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AFBAC-C8B8-C698-10DE-EF5DCB0E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" y="2372035"/>
            <a:ext cx="12058141" cy="34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86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0DCFB8-3805-E808-DCA9-01BC75B370BA}"/>
              </a:ext>
            </a:extLst>
          </p:cNvPr>
          <p:cNvSpPr txBox="1"/>
          <p:nvPr/>
        </p:nvSpPr>
        <p:spPr>
          <a:xfrm>
            <a:off x="-115747" y="0"/>
            <a:ext cx="11887199" cy="109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3.a.1.Caracteristica de </a:t>
            </a:r>
            <a:r>
              <a:rPr lang="en-US" sz="3600" b="1" dirty="0" err="1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frecventa</a:t>
            </a:r>
            <a:r>
              <a:rPr lang="en-US" sz="3600" b="1" dirty="0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 a </a:t>
            </a:r>
            <a:r>
              <a:rPr lang="en-US" sz="3600" b="1" dirty="0" err="1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biquadului</a:t>
            </a:r>
            <a:r>
              <a:rPr lang="en-US" sz="3600" b="1" dirty="0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 Sallen Key, </a:t>
            </a:r>
            <a:r>
              <a:rPr lang="en-US" sz="3600" b="1" dirty="0" err="1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comparata</a:t>
            </a:r>
            <a:r>
              <a:rPr lang="en-US" sz="3600" b="1" dirty="0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celui</a:t>
            </a:r>
            <a:r>
              <a:rPr lang="en-US" sz="3600" b="1" dirty="0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 de al </a:t>
            </a:r>
            <a:r>
              <a:rPr lang="en-US" sz="3600" b="1" dirty="0" err="1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doilea</a:t>
            </a:r>
            <a:r>
              <a:rPr lang="en-US" sz="3600" b="1" dirty="0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+mj-lt"/>
                <a:ea typeface="+mj-ea"/>
                <a:cs typeface="Times New Roman" pitchFamily="18" charset="0"/>
              </a:rPr>
              <a:t>biquad</a:t>
            </a:r>
            <a:endParaRPr lang="en-US" sz="3600" b="1" dirty="0">
              <a:solidFill>
                <a:srgbClr val="FF0000"/>
              </a:solidFill>
              <a:latin typeface="+mj-lt"/>
              <a:ea typeface="+mj-ea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C62EA-C629-247E-F661-A57E56A50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747" y="1235321"/>
            <a:ext cx="12192000" cy="562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19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B0B3-63FA-5A24-CFB5-A1B3523C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888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3.a.1.Caracteristica de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frecventa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biquadului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KHN,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comparata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primul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biquad</a:t>
            </a:r>
            <a:endParaRPr lang="en-US" b="1" dirty="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03C34E-26FC-7E15-1057-90C042C5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677"/>
            <a:ext cx="12192000" cy="5824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CCAD58-BDEE-5D52-48BC-8F237492E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5" t="17318" r="8225" b="27445"/>
          <a:stretch>
            <a:fillRect/>
          </a:stretch>
        </p:blipFill>
        <p:spPr>
          <a:xfrm>
            <a:off x="5023412" y="5813306"/>
            <a:ext cx="4849793" cy="65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53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74D6-7CFB-4B89-662F-6A5BAF7F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918" y="150471"/>
            <a:ext cx="12572035" cy="1805651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3.a.2.Caracteristica de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frecventa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filtrului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dupa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cascadarea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circuitelor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biqud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comparata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cea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sursei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modelate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</a:rPr>
              <a:t> in </a:t>
            </a:r>
            <a:r>
              <a:rPr lang="en-US" sz="4000" b="1" dirty="0" err="1">
                <a:solidFill>
                  <a:srgbClr val="FF0000"/>
                </a:solidFill>
                <a:cs typeface="Times New Roman" pitchFamily="18" charset="0"/>
              </a:rPr>
              <a:t>cascada</a:t>
            </a:r>
            <a:endParaRPr lang="en-US" sz="4000" b="1" dirty="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13115-D29A-72A2-D9AF-B4EAFAF8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" y="2152441"/>
            <a:ext cx="12192000" cy="433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76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21791-D0FD-8D12-1DD9-6CD6C3275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8" y="557304"/>
            <a:ext cx="12192000" cy="57433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83C155-11A6-C136-5CC1-F626C2B44506}"/>
              </a:ext>
            </a:extLst>
          </p:cNvPr>
          <p:cNvSpPr/>
          <p:nvPr/>
        </p:nvSpPr>
        <p:spPr>
          <a:xfrm>
            <a:off x="8740539" y="4634057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6B8DE-5C5F-B60D-21AB-BBCBB49B71AA}"/>
              </a:ext>
            </a:extLst>
          </p:cNvPr>
          <p:cNvSpPr/>
          <p:nvPr/>
        </p:nvSpPr>
        <p:spPr>
          <a:xfrm>
            <a:off x="9990605" y="5212792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18261D-C17C-BD64-5A62-60D36F67057A}"/>
              </a:ext>
            </a:extLst>
          </p:cNvPr>
          <p:cNvCxnSpPr/>
          <p:nvPr/>
        </p:nvCxnSpPr>
        <p:spPr>
          <a:xfrm>
            <a:off x="7038588" y="3841122"/>
            <a:ext cx="1586204" cy="8770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F67948-7E8B-C4C7-8422-03831904A941}"/>
                  </a:ext>
                </a:extLst>
              </p:cNvPr>
              <p:cNvSpPr txBox="1"/>
              <p:nvPr/>
            </p:nvSpPr>
            <p:spPr>
              <a:xfrm>
                <a:off x="5429707" y="3522221"/>
                <a:ext cx="160888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𝟓𝐤</m:t>
                    </m:r>
                  </m:oMath>
                </a14:m>
                <a:r>
                  <a:rPr lang="en-US" b="1" dirty="0"/>
                  <a:t>Hz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F67948-7E8B-C4C7-8422-03831904A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707" y="3522221"/>
                <a:ext cx="1608880" cy="453137"/>
              </a:xfrm>
              <a:prstGeom prst="rect">
                <a:avLst/>
              </a:prstGeom>
              <a:blipFill>
                <a:blip r:embed="rId4"/>
                <a:stretch>
                  <a:fillRect l="-340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A2683B-CA90-B606-E77C-9DC47B326543}"/>
              </a:ext>
            </a:extLst>
          </p:cNvPr>
          <p:cNvCxnSpPr>
            <a:cxnSpLocks/>
          </p:cNvCxnSpPr>
          <p:nvPr/>
        </p:nvCxnSpPr>
        <p:spPr>
          <a:xfrm>
            <a:off x="7647834" y="5080480"/>
            <a:ext cx="2185410" cy="3217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15EC64-0AE9-C3C4-AB82-C7F5248875DD}"/>
                  </a:ext>
                </a:extLst>
              </p:cNvPr>
              <p:cNvSpPr txBox="1"/>
              <p:nvPr/>
            </p:nvSpPr>
            <p:spPr>
              <a:xfrm rot="10800000" flipV="1">
                <a:off x="6589094" y="4856855"/>
                <a:ext cx="18027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𝐝𝐁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15EC64-0AE9-C3C4-AB82-C7F524887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589094" y="4856855"/>
                <a:ext cx="1802757" cy="369332"/>
              </a:xfrm>
              <a:prstGeom prst="rect">
                <a:avLst/>
              </a:prstGeom>
              <a:blipFill>
                <a:blip r:embed="rId5"/>
                <a:stretch>
                  <a:fillRect l="-304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245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17482D-9B1C-C0C6-B69C-2F63C839AC9A}"/>
              </a:ext>
            </a:extLst>
          </p:cNvPr>
          <p:cNvSpPr txBox="1"/>
          <p:nvPr/>
        </p:nvSpPr>
        <p:spPr>
          <a:xfrm>
            <a:off x="312516" y="111281"/>
            <a:ext cx="12188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3.A.3.Raspunsul la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treapta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circuitului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comparat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cu cel al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filtrului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implementat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surse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modelate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18BC0C-DB67-9574-06D8-6208EA60B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462"/>
            <a:ext cx="11941629" cy="562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02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E17697-F663-66DC-9409-D7895FF3E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22238"/>
            <a:ext cx="9144000" cy="1655762"/>
          </a:xfrm>
        </p:spPr>
        <p:txBody>
          <a:bodyPr/>
          <a:lstStyle/>
          <a:p>
            <a:r>
              <a:rPr lang="ro-RO" sz="3600" b="1" dirty="0">
                <a:solidFill>
                  <a:srgbClr val="FF0000"/>
                </a:solidFill>
                <a:cs typeface="Times New Roman" pitchFamily="18" charset="0"/>
              </a:rPr>
              <a:t>4.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Circuitul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valori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ro-RO" sz="3600" b="1" dirty="0">
                <a:solidFill>
                  <a:srgbClr val="FF0000"/>
                </a:solidFill>
                <a:cs typeface="Times New Roman" pitchFamily="18" charset="0"/>
              </a:rPr>
              <a:t>dimensionate</a:t>
            </a:r>
            <a:endParaRPr lang="en-US" sz="3600" b="1" dirty="0">
              <a:solidFill>
                <a:srgbClr val="FF0000"/>
              </a:solidFill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241226-090D-E94B-F6DD-5F00C9D6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1316368"/>
            <a:ext cx="9931400" cy="531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86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1F79B-B127-DCD1-2B5D-578F4FD5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854200"/>
          </a:xfrm>
        </p:spPr>
        <p:txBody>
          <a:bodyPr>
            <a:normAutofit fontScale="90000"/>
          </a:bodyPr>
          <a:lstStyle/>
          <a:p>
            <a:pPr algn="ctr"/>
            <a:r>
              <a:rPr lang="ro-RO" b="1" dirty="0">
                <a:solidFill>
                  <a:srgbClr val="FF0000"/>
                </a:solidFill>
                <a:cs typeface="Times New Roman" pitchFamily="18" charset="0"/>
              </a:rPr>
              <a:t>4. 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1.Caracteristica de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frecventa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biquadului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Sallen Key,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comparata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celui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de al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doilea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biquad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(Valori </a:t>
            </a:r>
            <a:r>
              <a:rPr lang="en-US" b="1" dirty="0" err="1">
                <a:solidFill>
                  <a:srgbClr val="FF0000"/>
                </a:solidFill>
                <a:cs typeface="Times New Roman" pitchFamily="18" charset="0"/>
              </a:rPr>
              <a:t>normalizate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3501A6-92E1-1EE6-9D94-4BA635AF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663998"/>
            <a:ext cx="10845800" cy="51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30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393E87-649F-7235-F9B7-47F79D7B14E2}"/>
              </a:ext>
            </a:extLst>
          </p:cNvPr>
          <p:cNvSpPr txBox="1"/>
          <p:nvPr/>
        </p:nvSpPr>
        <p:spPr>
          <a:xfrm>
            <a:off x="76199" y="0"/>
            <a:ext cx="123539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4.1.Caracteristica de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frecventa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biquadului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KHN,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comparata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primul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biquad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(Valori </a:t>
            </a:r>
            <a:r>
              <a:rPr lang="en-US" sz="3600" b="1" dirty="0" err="1">
                <a:solidFill>
                  <a:srgbClr val="FF0000"/>
                </a:solidFill>
                <a:cs typeface="Times New Roman" pitchFamily="18" charset="0"/>
              </a:rPr>
              <a:t>normalizate</a:t>
            </a: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)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FEC9D-2231-66DD-DDFC-262D03BC7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200329"/>
            <a:ext cx="12192000" cy="580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35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CFD78-05DD-B6D8-D8BE-F705A94F7044}"/>
              </a:ext>
            </a:extLst>
          </p:cNvPr>
          <p:cNvSpPr txBox="1"/>
          <p:nvPr/>
        </p:nvSpPr>
        <p:spPr>
          <a:xfrm>
            <a:off x="0" y="0"/>
            <a:ext cx="125206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4.2.Caracteristica de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frecventa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filtrului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dupa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cascadarea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circuitelor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biquad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comparata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cea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sursei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modelate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in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cascada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(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valori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normalizate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00A0E-D878-1677-156E-AF6D27637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57" y="1522660"/>
            <a:ext cx="11408229" cy="53353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BF2C45-68E7-3017-66E8-CF7192E0D649}"/>
              </a:ext>
            </a:extLst>
          </p:cNvPr>
          <p:cNvSpPr/>
          <p:nvPr/>
        </p:nvSpPr>
        <p:spPr>
          <a:xfrm>
            <a:off x="5826432" y="5417828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1260C4-6526-9162-F6E7-CE7F31663244}"/>
              </a:ext>
            </a:extLst>
          </p:cNvPr>
          <p:cNvSpPr/>
          <p:nvPr/>
        </p:nvSpPr>
        <p:spPr>
          <a:xfrm>
            <a:off x="6998825" y="5918572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35FB21-437B-2910-79BA-D8E646689664}"/>
              </a:ext>
            </a:extLst>
          </p:cNvPr>
          <p:cNvCxnSpPr>
            <a:cxnSpLocks/>
          </p:cNvCxnSpPr>
          <p:nvPr/>
        </p:nvCxnSpPr>
        <p:spPr>
          <a:xfrm>
            <a:off x="4408714" y="5567117"/>
            <a:ext cx="128349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CCA8BC-D8BC-B505-7439-3CE5E900F9B2}"/>
              </a:ext>
            </a:extLst>
          </p:cNvPr>
          <p:cNvCxnSpPr>
            <a:cxnSpLocks/>
          </p:cNvCxnSpPr>
          <p:nvPr/>
        </p:nvCxnSpPr>
        <p:spPr>
          <a:xfrm>
            <a:off x="4103914" y="6094149"/>
            <a:ext cx="279813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3464C3-71D3-722D-79FC-4B5F2DBE0A29}"/>
                  </a:ext>
                </a:extLst>
              </p:cNvPr>
              <p:cNvSpPr txBox="1"/>
              <p:nvPr/>
            </p:nvSpPr>
            <p:spPr>
              <a:xfrm>
                <a:off x="2966358" y="5330299"/>
                <a:ext cx="16491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𝟓𝐤</m:t>
                    </m:r>
                  </m:oMath>
                </a14:m>
                <a:r>
                  <a:rPr lang="en-US" b="1" dirty="0"/>
                  <a:t>Hz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3464C3-71D3-722D-79FC-4B5F2DBE0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358" y="5330299"/>
                <a:ext cx="1649186" cy="369332"/>
              </a:xfrm>
              <a:prstGeom prst="rect">
                <a:avLst/>
              </a:prstGeom>
              <a:blipFill>
                <a:blip r:embed="rId4"/>
                <a:stretch>
                  <a:fillRect l="-3333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9BCA47-62BF-F76E-1E8E-0F94988A58A1}"/>
                  </a:ext>
                </a:extLst>
              </p:cNvPr>
              <p:cNvSpPr txBox="1"/>
              <p:nvPr/>
            </p:nvSpPr>
            <p:spPr>
              <a:xfrm>
                <a:off x="2952406" y="5918572"/>
                <a:ext cx="12790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𝟑𝐝𝐁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9BCA47-62BF-F76E-1E8E-0F94988A5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406" y="5918572"/>
                <a:ext cx="1279071" cy="369332"/>
              </a:xfrm>
              <a:prstGeom prst="rect">
                <a:avLst/>
              </a:prstGeom>
              <a:blipFill>
                <a:blip r:embed="rId5"/>
                <a:stretch>
                  <a:fillRect l="-381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995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C316D0-94FE-5C35-B852-D4433E4CEAF5}"/>
              </a:ext>
            </a:extLst>
          </p:cNvPr>
          <p:cNvSpPr txBox="1"/>
          <p:nvPr/>
        </p:nvSpPr>
        <p:spPr>
          <a:xfrm>
            <a:off x="283029" y="112263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4.3.Raspunsul la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treapta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a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circuitului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comparat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cu cel al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filtrului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implementat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cu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surse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modelate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(Valori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normalizate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)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08E45-6E39-514A-088B-607C1E5D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23" y="1066370"/>
            <a:ext cx="11847477" cy="562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50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D05C2-AAF1-2427-3785-B0C14E8F2ADA}"/>
              </a:ext>
            </a:extLst>
          </p:cNvPr>
          <p:cNvSpPr txBox="1"/>
          <p:nvPr/>
        </p:nvSpPr>
        <p:spPr>
          <a:xfrm>
            <a:off x="326573" y="0"/>
            <a:ext cx="11865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o-RO" sz="3600" b="1" dirty="0">
                <a:solidFill>
                  <a:srgbClr val="FF0000"/>
                </a:solidFill>
              </a:rPr>
              <a:t>5.</a:t>
            </a:r>
            <a:r>
              <a:rPr lang="en-US" sz="3600" b="1" dirty="0" err="1">
                <a:solidFill>
                  <a:srgbClr val="FF0000"/>
                </a:solidFill>
              </a:rPr>
              <a:t>Circuitul</a:t>
            </a:r>
            <a:r>
              <a:rPr lang="en-US" sz="3600" b="1" dirty="0">
                <a:solidFill>
                  <a:srgbClr val="FF0000"/>
                </a:solidFill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</a:rPr>
              <a:t>valori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ro-RO" sz="3600" b="1" dirty="0">
                <a:solidFill>
                  <a:srgbClr val="FF0000"/>
                </a:solidFill>
              </a:rPr>
              <a:t>calculate și circu</a:t>
            </a:r>
            <a:r>
              <a:rPr lang="en-US" sz="3600" b="1" dirty="0" err="1">
                <a:solidFill>
                  <a:srgbClr val="FF0000"/>
                </a:solidFill>
              </a:rPr>
              <a:t>i</a:t>
            </a:r>
            <a:r>
              <a:rPr lang="ro-RO" sz="3600" b="1" dirty="0">
                <a:solidFill>
                  <a:srgbClr val="FF0000"/>
                </a:solidFill>
              </a:rPr>
              <a:t>tul cu valori dimensionate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comparat</a:t>
            </a:r>
            <a:r>
              <a:rPr lang="ro-RO" sz="3600" b="1" dirty="0">
                <a:solidFill>
                  <a:srgbClr val="FF0000"/>
                </a:solidFill>
              </a:rPr>
              <a:t>e</a:t>
            </a:r>
            <a:r>
              <a:rPr lang="en-US" sz="3600" b="1" dirty="0">
                <a:solidFill>
                  <a:srgbClr val="FF0000"/>
                </a:solidFill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</a:rPr>
              <a:t>modelul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matematic</a:t>
            </a:r>
            <a:r>
              <a:rPr lang="en-US" sz="3600" b="1" dirty="0">
                <a:solidFill>
                  <a:srgbClr val="FF0000"/>
                </a:solidFill>
              </a:rPr>
              <a:t> 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1C475-B2B1-7528-4DA3-B7A89EC3B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3499"/>
            <a:ext cx="12192000" cy="246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08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0C5060-5775-8CA7-E512-ECE4E8DC4B7B}"/>
              </a:ext>
            </a:extLst>
          </p:cNvPr>
          <p:cNvSpPr txBox="1"/>
          <p:nvPr/>
        </p:nvSpPr>
        <p:spPr>
          <a:xfrm>
            <a:off x="3200400" y="873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o-RO" sz="3200" b="1" dirty="0">
                <a:solidFill>
                  <a:srgbClr val="FF0000"/>
                </a:solidFill>
              </a:rPr>
              <a:t>5.1. </a:t>
            </a:r>
            <a:r>
              <a:rPr lang="en-US" sz="3200" b="1" dirty="0" err="1">
                <a:solidFill>
                  <a:srgbClr val="FF0000"/>
                </a:solidFill>
              </a:rPr>
              <a:t>a.Caracteristica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ro-RO" sz="3200" b="1" dirty="0">
                <a:solidFill>
                  <a:srgbClr val="FF0000"/>
                </a:solidFill>
              </a:rPr>
              <a:t>î</a:t>
            </a:r>
            <a:r>
              <a:rPr lang="en-US" sz="3200" b="1" dirty="0">
                <a:solidFill>
                  <a:srgbClr val="FF0000"/>
                </a:solidFill>
              </a:rPr>
              <a:t>n </a:t>
            </a:r>
            <a:r>
              <a:rPr lang="en-US" sz="3200" b="1" dirty="0" err="1">
                <a:solidFill>
                  <a:srgbClr val="FF0000"/>
                </a:solidFill>
              </a:rPr>
              <a:t>frecventa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pentru</a:t>
            </a:r>
            <a:r>
              <a:rPr lang="en-US" sz="3200" b="1" dirty="0">
                <a:solidFill>
                  <a:srgbClr val="FF0000"/>
                </a:solidFill>
              </a:rPr>
              <a:t> SELLEN-KEY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A1BF6-E386-5501-9B80-1327CA53B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949"/>
            <a:ext cx="11866179" cy="554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01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9FA459-915A-0DD0-3DF8-D8BDD775EA23}"/>
              </a:ext>
            </a:extLst>
          </p:cNvPr>
          <p:cNvSpPr txBox="1"/>
          <p:nvPr/>
        </p:nvSpPr>
        <p:spPr>
          <a:xfrm>
            <a:off x="283028" y="0"/>
            <a:ext cx="12224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o-RO" sz="3600" b="1" dirty="0">
                <a:solidFill>
                  <a:srgbClr val="FF0000"/>
                </a:solidFill>
              </a:rPr>
              <a:t>5.1.</a:t>
            </a:r>
            <a:r>
              <a:rPr lang="en-US" sz="3600" b="1" dirty="0">
                <a:solidFill>
                  <a:srgbClr val="FF0000"/>
                </a:solidFill>
              </a:rPr>
              <a:t>b.</a:t>
            </a:r>
            <a:r>
              <a:rPr lang="ro-RO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Caracteristica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ro-RO" sz="3600" b="1" dirty="0">
                <a:solidFill>
                  <a:srgbClr val="FF0000"/>
                </a:solidFill>
              </a:rPr>
              <a:t>î</a:t>
            </a:r>
            <a:r>
              <a:rPr lang="en-US" sz="3600" b="1" dirty="0">
                <a:solidFill>
                  <a:srgbClr val="FF0000"/>
                </a:solidFill>
              </a:rPr>
              <a:t>n </a:t>
            </a:r>
            <a:r>
              <a:rPr lang="en-US" sz="3600" b="1" dirty="0" err="1">
                <a:solidFill>
                  <a:srgbClr val="FF0000"/>
                </a:solidFill>
              </a:rPr>
              <a:t>frecventa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pentru</a:t>
            </a:r>
            <a:r>
              <a:rPr lang="en-US" sz="3600" b="1" dirty="0">
                <a:solidFill>
                  <a:srgbClr val="FF0000"/>
                </a:solidFill>
              </a:rPr>
              <a:t> Kerwin-Huelsman-Newcomb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A27CD-9EF6-981B-B8AB-F17D56B74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0009"/>
            <a:ext cx="12192000" cy="563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32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809C50-052F-E2D7-EEDA-E02D3E13BEDB}"/>
              </a:ext>
            </a:extLst>
          </p:cNvPr>
          <p:cNvSpPr txBox="1"/>
          <p:nvPr/>
        </p:nvSpPr>
        <p:spPr>
          <a:xfrm>
            <a:off x="-359229" y="87085"/>
            <a:ext cx="130846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5.2.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Comparare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Biquad1 cu Biquad2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dupa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cascadarea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circuitelor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08DC0F-2A6F-EB9B-C1EE-74D62215E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860"/>
            <a:ext cx="12192000" cy="59466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BEFBCE-DD37-13ED-BCD3-1091FECA9DC8}"/>
              </a:ext>
            </a:extLst>
          </p:cNvPr>
          <p:cNvSpPr/>
          <p:nvPr/>
        </p:nvSpPr>
        <p:spPr>
          <a:xfrm>
            <a:off x="6096000" y="4525200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99DDEC-E74C-90FB-7C42-16073A5EA10A}"/>
              </a:ext>
            </a:extLst>
          </p:cNvPr>
          <p:cNvSpPr/>
          <p:nvPr/>
        </p:nvSpPr>
        <p:spPr>
          <a:xfrm>
            <a:off x="7296004" y="5134799"/>
            <a:ext cx="867747" cy="298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6ED97F-07C9-B989-A34A-FBFA8496AF8B}"/>
              </a:ext>
            </a:extLst>
          </p:cNvPr>
          <p:cNvCxnSpPr>
            <a:cxnSpLocks/>
          </p:cNvCxnSpPr>
          <p:nvPr/>
        </p:nvCxnSpPr>
        <p:spPr>
          <a:xfrm>
            <a:off x="4812506" y="4663603"/>
            <a:ext cx="128349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F32D29-68D4-4DDB-068B-FBC59CDDC840}"/>
              </a:ext>
            </a:extLst>
          </p:cNvPr>
          <p:cNvCxnSpPr>
            <a:cxnSpLocks/>
          </p:cNvCxnSpPr>
          <p:nvPr/>
        </p:nvCxnSpPr>
        <p:spPr>
          <a:xfrm>
            <a:off x="4386942" y="5321263"/>
            <a:ext cx="279813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6334EB-7028-0EF7-F2E1-1AF25863C2EA}"/>
                  </a:ext>
                </a:extLst>
              </p:cNvPr>
              <p:cNvSpPr txBox="1"/>
              <p:nvPr/>
            </p:nvSpPr>
            <p:spPr>
              <a:xfrm>
                <a:off x="3423557" y="4474878"/>
                <a:ext cx="14750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𝟓𝐤</m:t>
                    </m:r>
                  </m:oMath>
                </a14:m>
                <a:r>
                  <a:rPr lang="en-US" b="1" dirty="0"/>
                  <a:t>Hz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6334EB-7028-0EF7-F2E1-1AF25863C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557" y="4474878"/>
                <a:ext cx="1475014" cy="369332"/>
              </a:xfrm>
              <a:prstGeom prst="rect">
                <a:avLst/>
              </a:prstGeom>
              <a:blipFill>
                <a:blip r:embed="rId4"/>
                <a:stretch>
                  <a:fillRect l="-371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74139D-19E7-4118-B5EE-D122CA12C8CC}"/>
                  </a:ext>
                </a:extLst>
              </p:cNvPr>
              <p:cNvSpPr txBox="1"/>
              <p:nvPr/>
            </p:nvSpPr>
            <p:spPr>
              <a:xfrm>
                <a:off x="3423557" y="5134799"/>
                <a:ext cx="11049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𝟑𝐝𝐁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74139D-19E7-4118-B5EE-D122CA12C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557" y="5134799"/>
                <a:ext cx="1104901" cy="369332"/>
              </a:xfrm>
              <a:prstGeom prst="rect">
                <a:avLst/>
              </a:prstGeom>
              <a:blipFill>
                <a:blip r:embed="rId5"/>
                <a:stretch>
                  <a:fillRect l="-4972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040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9C4CC-03A7-64C4-5007-F01F68F81074}"/>
              </a:ext>
            </a:extLst>
          </p:cNvPr>
          <p:cNvSpPr txBox="1"/>
          <p:nvPr/>
        </p:nvSpPr>
        <p:spPr>
          <a:xfrm>
            <a:off x="-108858" y="0"/>
            <a:ext cx="124859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o-RO" sz="3600" b="1" dirty="0">
                <a:solidFill>
                  <a:srgbClr val="FF0000"/>
                </a:solidFill>
              </a:rPr>
              <a:t>5.</a:t>
            </a:r>
            <a:r>
              <a:rPr lang="en-US" sz="3600" b="1" dirty="0">
                <a:solidFill>
                  <a:srgbClr val="FF0000"/>
                </a:solidFill>
              </a:rPr>
              <a:t>3</a:t>
            </a:r>
            <a:r>
              <a:rPr lang="ro-RO" sz="3600" b="1" dirty="0">
                <a:solidFill>
                  <a:srgbClr val="FF0000"/>
                </a:solidFill>
              </a:rPr>
              <a:t>. </a:t>
            </a:r>
            <a:r>
              <a:rPr lang="en-US" sz="3600" b="1" dirty="0" err="1">
                <a:solidFill>
                  <a:srgbClr val="FF0000"/>
                </a:solidFill>
              </a:rPr>
              <a:t>Caracteristica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raspunsului</a:t>
            </a:r>
            <a:r>
              <a:rPr lang="en-US" sz="3600" b="1" dirty="0">
                <a:solidFill>
                  <a:srgbClr val="FF0000"/>
                </a:solidFill>
              </a:rPr>
              <a:t> in </a:t>
            </a:r>
            <a:r>
              <a:rPr lang="en-US" sz="3600" b="1" dirty="0" err="1">
                <a:solidFill>
                  <a:srgbClr val="FF0000"/>
                </a:solidFill>
              </a:rPr>
              <a:t>treapta</a:t>
            </a:r>
            <a:r>
              <a:rPr lang="en-US" sz="3600" b="1" dirty="0">
                <a:solidFill>
                  <a:srgbClr val="FF0000"/>
                </a:solidFill>
              </a:rPr>
              <a:t> la </a:t>
            </a:r>
            <a:r>
              <a:rPr lang="en-US" sz="3600" b="1" dirty="0" err="1">
                <a:solidFill>
                  <a:srgbClr val="FF0000"/>
                </a:solidFill>
              </a:rPr>
              <a:t>circuitul</a:t>
            </a:r>
            <a:r>
              <a:rPr lang="en-US" sz="3600" b="1" dirty="0">
                <a:solidFill>
                  <a:srgbClr val="FF0000"/>
                </a:solidFill>
              </a:rPr>
              <a:t> cu </a:t>
            </a:r>
            <a:r>
              <a:rPr lang="en-US" sz="3600" b="1" dirty="0" err="1">
                <a:solidFill>
                  <a:srgbClr val="FF0000"/>
                </a:solidFill>
              </a:rPr>
              <a:t>valori</a:t>
            </a:r>
            <a:r>
              <a:rPr lang="ro-RO" sz="3600" b="1" dirty="0">
                <a:solidFill>
                  <a:srgbClr val="FF0000"/>
                </a:solidFill>
              </a:rPr>
              <a:t> calculate si circuitul cu valori 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ro-RO" sz="3600" b="1" dirty="0">
                <a:solidFill>
                  <a:srgbClr val="FF0000"/>
                </a:solidFill>
              </a:rPr>
              <a:t>dimensionate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678A7A-8887-3A2F-7EEA-5D7C1635A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5" y="1200329"/>
            <a:ext cx="11702143" cy="536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62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BF7E0-9449-456F-26C0-DD61D5721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63" y="812886"/>
            <a:ext cx="8668873" cy="58056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0A3DF1-1F99-7221-A9EE-97604FD8E459}"/>
              </a:ext>
            </a:extLst>
          </p:cNvPr>
          <p:cNvSpPr txBox="1"/>
          <p:nvPr/>
        </p:nvSpPr>
        <p:spPr>
          <a:xfrm>
            <a:off x="3047999" y="23948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Proteus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672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562</Words>
  <Application>Microsoft Office PowerPoint</Application>
  <PresentationFormat>Widescreen</PresentationFormat>
  <Paragraphs>69</Paragraphs>
  <Slides>38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1.1.B.Caracteristica de transfer a filtrului, comparata cu cea a filtrului BW la1Hz</vt:lpstr>
      <vt:lpstr>PowerPoint Presentation</vt:lpstr>
      <vt:lpstr>Caracteristica de transfer a filtrului Bessel la frecventa de 1 Hz</vt:lpstr>
      <vt:lpstr>1.2.B.Caracteristica de transfer a filtrului, comparata cu cea a filtrului BW la 3.5kHz</vt:lpstr>
      <vt:lpstr>Caracteristica de transfer a filtrului Bessel la frecventa de 3500Hz</vt:lpstr>
      <vt:lpstr>Caracteristica de transfer a filtrului BW la frecventa de 3500Hz</vt:lpstr>
      <vt:lpstr>1.C.Raspuns la treapta al filtrului, comparat cu cel al filtrului BW la frecventa de 3.5kHz(Vin)</vt:lpstr>
      <vt:lpstr>Raspunsul in treapta-compararea dintre BW și BS la f=3500Hz(analiza tranzitorie/în timp) </vt:lpstr>
      <vt:lpstr>2.A.Deducerea expresiilor H(s) pentru SALLEN-KEY+KERWIN HUELSMAN-NEWCOMB</vt:lpstr>
      <vt:lpstr>PowerPoint Presentation</vt:lpstr>
      <vt:lpstr>PowerPoint Presentation</vt:lpstr>
      <vt:lpstr>PowerPoint Presentation</vt:lpstr>
      <vt:lpstr>3.Dimensionare Biquad Sallen-Key</vt:lpstr>
      <vt:lpstr>PowerPoint Presentation</vt:lpstr>
      <vt:lpstr>3.Dimensionare Biquad Kerwin Huelsman-Newcomb</vt:lpstr>
      <vt:lpstr>3.Dimensionare Biquad Kerwin Huelsman-Newcomb</vt:lpstr>
      <vt:lpstr>PowerPoint Presentation</vt:lpstr>
      <vt:lpstr>3.a.1.Caracteristica de frecventa a biquadului KHN, comparata cu primul biquad</vt:lpstr>
      <vt:lpstr>3.a.2.Caracteristica de frecventa a filtrului, dupa cascadarea circuitelor biqud, comparata cu cea a sursei modelate in cascada</vt:lpstr>
      <vt:lpstr>PowerPoint Presentation</vt:lpstr>
      <vt:lpstr>PowerPoint Presentation</vt:lpstr>
      <vt:lpstr>PowerPoint Presentation</vt:lpstr>
      <vt:lpstr>4. 1.Caracteristica de frecventa a biquadului Sallen Key, comparata cu celui de al doilea biquad(Valori normalizate)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Bianca Varo</dc:creator>
  <cp:lastModifiedBy>Gabriela Bianca Varo</cp:lastModifiedBy>
  <cp:revision>3</cp:revision>
  <dcterms:created xsi:type="dcterms:W3CDTF">2026-01-18T16:44:17Z</dcterms:created>
  <dcterms:modified xsi:type="dcterms:W3CDTF">2026-01-18T22:03:18Z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2026-01-18T16:44:54Z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15dae760-dc6c-478b-a970-ad2fb2cc4f77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